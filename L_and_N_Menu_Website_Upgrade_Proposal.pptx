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73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7" d="100"/>
          <a:sy n="97" d="100"/>
        </p:scale>
        <p:origin x="115" y="-5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4ADE80"/>
                </a:solidFill>
                <a:latin typeface="Calibri"/>
              </a:rPr>
              <a:t>L&amp;N KITCHEN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AFAFA"/>
                </a:solidFill>
                <a:latin typeface="Calibri"/>
              </a:rPr>
              <a:t>Proposal for Digital Ordering
&amp; Waiter System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626248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 dirty="0">
                <a:solidFill>
                  <a:srgbClr val="A1A1AA"/>
                </a:solidFill>
                <a:latin typeface="Calibri"/>
              </a:rPr>
              <a:t>Seamless guest ordering · waiter floor workflow · live tracking · digital receipts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dirty="0">
                <a:solidFill>
                  <a:srgbClr val="A1A1AA"/>
                </a:solidFill>
                <a:latin typeface="Calibri"/>
              </a:rPr>
              <a:t>Prepared for L&amp;N Kitchen leadership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040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A1A1AA"/>
                </a:solidFill>
                <a:latin typeface="Calibri"/>
              </a:rPr>
              <a:t>Elevate dining and operational efficiency with an end-to-end digital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10972800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FAFAFA"/>
                </a:solidFill>
                <a:latin typeface="Calibri"/>
              </a:rPr>
              <a:t>•  Current menu at menu.landnkitchen.com is a static catalog browse, cart, and manual staff coordination.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FAFAFA"/>
                </a:solidFill>
                <a:latin typeface="Calibri"/>
              </a:rPr>
              <a:t>•  The upgraded platform is a real-time, interactive workflow already </a:t>
            </a:r>
            <a:r>
              <a:rPr sz="1500" b="0" dirty="0" err="1">
                <a:solidFill>
                  <a:srgbClr val="FAFAFA"/>
                </a:solidFill>
                <a:latin typeface="Calibri"/>
              </a:rPr>
              <a:t>previewable</a:t>
            </a:r>
            <a:r>
              <a:rPr sz="1500" b="0" dirty="0">
                <a:solidFill>
                  <a:srgbClr val="FAFAFA"/>
                </a:solidFill>
                <a:latin typeface="Calibri"/>
              </a:rPr>
              <a:t> today.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FAFAFA"/>
                </a:solidFill>
                <a:latin typeface="Calibri"/>
              </a:rPr>
              <a:t>•  Bridges customer convenience and staff efficiency across every touchpoint.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FAFAFA"/>
                </a:solidFill>
                <a:latin typeface="Calibri"/>
              </a:rPr>
              <a:t>•  From mobile swipe browsing and </a:t>
            </a:r>
            <a:r>
              <a:rPr sz="1500" b="0" dirty="0" err="1">
                <a:solidFill>
                  <a:srgbClr val="FAFAFA"/>
                </a:solidFill>
                <a:latin typeface="Calibri"/>
              </a:rPr>
              <a:t>wishlist</a:t>
            </a:r>
            <a:r>
              <a:rPr sz="1500" b="0" dirty="0">
                <a:solidFill>
                  <a:srgbClr val="FAFAFA"/>
                </a:solidFill>
                <a:latin typeface="Calibri"/>
              </a:rPr>
              <a:t> QR sharing → waiter assignment → kitchen tracking → paid receipt.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FAFAFA"/>
                </a:solidFill>
                <a:latin typeface="Calibri"/>
              </a:rPr>
              <a:t>•  Goal: fewer order mistakes, faster table turns, and a user-friendly experience guests remember.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05850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AFAFA"/>
                </a:solidFill>
                <a:latin typeface="Calibri"/>
              </a:rPr>
              <a:t>Core platform pillars before &amp;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3337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4ADE80"/>
                </a:solidFill>
                <a:latin typeface="Calibri"/>
              </a:rPr>
              <a:t>Feature area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024128"/>
            <a:ext cx="66236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dirty="0">
                <a:solidFill>
                  <a:srgbClr val="4ADE80"/>
                </a:solidFill>
                <a:latin typeface="Calibri"/>
              </a:rPr>
              <a:t>Current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024128"/>
            <a:ext cx="79060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dirty="0">
                <a:solidFill>
                  <a:srgbClr val="4ADE80"/>
                </a:solidFill>
                <a:latin typeface="Calibri"/>
              </a:rPr>
              <a:t>Upgraded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08176"/>
            <a:ext cx="11247120" cy="603504"/>
          </a:xfrm>
          <a:prstGeom prst="roundRect">
            <a:avLst>
              <a:gd name="adj" fmla="val 10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499616"/>
            <a:ext cx="32461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AFAFA"/>
                </a:solidFill>
                <a:latin typeface="Calibri"/>
              </a:rPr>
              <a:t>Customer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499616"/>
            <a:ext cx="32461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Static catalog browsing with manual cart actions.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1499616"/>
            <a:ext cx="41148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DE80"/>
                </a:solidFill>
                <a:latin typeface="Calibri"/>
              </a:rPr>
              <a:t>Mobile swipe deck, wishlist, search, dish detail, order history &amp; QR sharing.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66544"/>
            <a:ext cx="11247120" cy="603504"/>
          </a:xfrm>
          <a:prstGeom prst="roundRect">
            <a:avLst>
              <a:gd name="adj" fmla="val 10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157984"/>
            <a:ext cx="32461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AFAFA"/>
                </a:solidFill>
                <a:latin typeface="Calibri"/>
              </a:rPr>
              <a:t>Ordering mechanism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157984"/>
            <a:ext cx="32461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Manual, uncoordinated staff messaging.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157984"/>
            <a:ext cx="4114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dirty="0">
                <a:solidFill>
                  <a:srgbClr val="4ADE80"/>
                </a:solidFill>
                <a:latin typeface="Calibri"/>
              </a:rPr>
              <a:t>Guest QR scanned by waiter</a:t>
            </a:r>
            <a:r>
              <a:rPr lang="en-US" sz="1000" b="0" dirty="0">
                <a:solidFill>
                  <a:srgbClr val="4ADE80"/>
                </a:solidFill>
                <a:latin typeface="Calibri"/>
              </a:rPr>
              <a:t> for</a:t>
            </a:r>
            <a:r>
              <a:rPr sz="1000" b="0" dirty="0">
                <a:solidFill>
                  <a:srgbClr val="4ADE80"/>
                </a:solidFill>
                <a:latin typeface="Calibri"/>
              </a:rPr>
              <a:t> instant floor sync to admin.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724912"/>
            <a:ext cx="11247120" cy="603504"/>
          </a:xfrm>
          <a:prstGeom prst="roundRect">
            <a:avLst>
              <a:gd name="adj" fmla="val 10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816352"/>
            <a:ext cx="32461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AFAFA"/>
                </a:solidFill>
                <a:latin typeface="Calibri"/>
              </a:rPr>
              <a:t>Order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2816352"/>
            <a:ext cx="32461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No live status after placement.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816352"/>
            <a:ext cx="41148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DE80"/>
                </a:solidFill>
                <a:latin typeface="Calibri"/>
              </a:rPr>
              <a:t>Real-time lifecycle: New → Accepted → Paid → Completed.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383280"/>
            <a:ext cx="11247120" cy="603504"/>
          </a:xfrm>
          <a:prstGeom prst="roundRect">
            <a:avLst>
              <a:gd name="adj" fmla="val 10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474720"/>
            <a:ext cx="32461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AFAFA"/>
                </a:solidFill>
                <a:latin typeface="Calibri"/>
              </a:rPr>
              <a:t>Staff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474720"/>
            <a:ext cx="32461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No dedicated waiter assignment.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3474720"/>
            <a:ext cx="41148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DE80"/>
                </a:solidFill>
                <a:latin typeface="Calibri"/>
              </a:rPr>
              <a:t>Staff ID login, table tagging, one-shot assign to kitchen.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41648"/>
            <a:ext cx="11247120" cy="603504"/>
          </a:xfrm>
          <a:prstGeom prst="roundRect">
            <a:avLst>
              <a:gd name="adj" fmla="val 10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4133088"/>
            <a:ext cx="32461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AFAFA"/>
                </a:solidFill>
                <a:latin typeface="Calibri"/>
              </a:rPr>
              <a:t>Live sync &amp;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4133088"/>
            <a:ext cx="32461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No sync after order starts.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4133088"/>
            <a:ext cx="4114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rgbClr val="4ADE80"/>
                </a:solidFill>
                <a:latin typeface="Calibri"/>
              </a:rPr>
              <a:t>database</a:t>
            </a:r>
            <a:r>
              <a:rPr sz="1000" b="0" dirty="0">
                <a:solidFill>
                  <a:srgbClr val="4ADE80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4ADE80"/>
                </a:solidFill>
                <a:latin typeface="Calibri"/>
              </a:rPr>
              <a:t>realtime</a:t>
            </a:r>
            <a:r>
              <a:rPr sz="1000" b="0" dirty="0">
                <a:solidFill>
                  <a:srgbClr val="4ADE80"/>
                </a:solidFill>
                <a:latin typeface="Calibri"/>
              </a:rPr>
              <a:t> + locked-item rules protect guest selections.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1 · Seamless customer mobile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04088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A1A1AA"/>
                </a:solidFill>
                <a:latin typeface="Calibri"/>
              </a:rPr>
              <a:t>Fast, touch-friendly UI scan QR at the table and start browsing instantly</a:t>
            </a:r>
          </a:p>
        </p:txBody>
      </p:sp>
      <p:pic>
        <p:nvPicPr>
          <p:cNvPr id="6" name="Picture 5" descr="01-customer-menu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147" y="1024128"/>
            <a:ext cx="2281666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989320"/>
            <a:ext cx="3520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1A1AA"/>
                </a:solidFill>
                <a:latin typeface="Calibri"/>
              </a:rPr>
              <a:t>Swipe menu</a:t>
            </a:r>
          </a:p>
        </p:txBody>
      </p:sp>
      <p:pic>
        <p:nvPicPr>
          <p:cNvPr id="8" name="Picture 7" descr="02-customer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467" y="1024128"/>
            <a:ext cx="2281666" cy="4937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69080" y="5989320"/>
            <a:ext cx="3520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1A1AA"/>
                </a:solidFill>
                <a:latin typeface="Calibri"/>
              </a:rPr>
              <a:t>Search dishes</a:t>
            </a:r>
          </a:p>
        </p:txBody>
      </p:sp>
      <p:pic>
        <p:nvPicPr>
          <p:cNvPr id="10" name="Picture 9" descr="03-customer-dish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787" y="1024128"/>
            <a:ext cx="2281666" cy="4937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5989320"/>
            <a:ext cx="3520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1A1AA"/>
                </a:solidFill>
                <a:latin typeface="Calibri"/>
              </a:rPr>
              <a:t>Dish detail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6082947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dirty="0">
                <a:solidFill>
                  <a:srgbClr val="FAFAFA"/>
                </a:solidFill>
                <a:latin typeface="Calibri"/>
              </a:rPr>
              <a:t>Guest ordering simple, no signup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4606408" cy="2356015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85800" y="1216152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Calibri"/>
              </a:rPr>
              <a:t>What guests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27048"/>
            <a:ext cx="4225566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Swipe right to </a:t>
            </a:r>
            <a:r>
              <a:rPr sz="1100" b="0" dirty="0" err="1">
                <a:solidFill>
                  <a:srgbClr val="A1A1AA"/>
                </a:solidFill>
                <a:latin typeface="Calibri"/>
              </a:rPr>
              <a:t>wishlist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 · left to skip  guided onboarding on first visit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Build a </a:t>
            </a:r>
            <a:r>
              <a:rPr sz="1100" b="0" dirty="0" err="1">
                <a:solidFill>
                  <a:srgbClr val="A1A1AA"/>
                </a:solidFill>
                <a:latin typeface="Calibri"/>
              </a:rPr>
              <a:t>wishlist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 session without creating an account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View pricing (₦), ingredients, allergens, prep time &amp; calories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Place order → receive shareable QR for the waiter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Order more items or start a new order; full order history on device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Live updates when staff accept or adjust the order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Digital order summary + QR receipt after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696712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1A1AA"/>
                </a:solidFill>
                <a:latin typeface="Calibri"/>
              </a:rPr>
              <a:t>Wishlist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569671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1A1AA"/>
                </a:solidFill>
                <a:latin typeface="Calibri"/>
              </a:rPr>
              <a:t>Swipe to add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5/17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5B172AE-7F4B-40E1-9BDC-640E0B170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3160" y="548640"/>
            <a:ext cx="2723159" cy="51859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BD6086D-2227-4AA1-8151-504E55B0A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8835" y="942434"/>
            <a:ext cx="2707451" cy="47921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2 · Waiter order taking &amp;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04088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A1A1AA"/>
                </a:solidFill>
                <a:latin typeface="Calibri"/>
              </a:rPr>
              <a:t>Dedicated /order interface Staff ID, QR scan, table capture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4304750" cy="2285529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216152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Calibri"/>
              </a:rPr>
              <a:t>Floor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27048"/>
            <a:ext cx="4008748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Waiter opens /order and enters Staff ID (photo + name lookup)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Scan guest </a:t>
            </a:r>
            <a:r>
              <a:rPr sz="1100" b="0" dirty="0" err="1">
                <a:solidFill>
                  <a:srgbClr val="A1A1AA"/>
                </a:solidFill>
                <a:latin typeface="Calibri"/>
              </a:rPr>
              <a:t>wishlist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 QR directly from the customer's phone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Order populates instantly no re-typing dishes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Capture table number or lounge area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Add items, change quantities, note special requests table-side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Assign to admin once locked after first assign to prevent errors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Download order image for kitchen pass if needed</a:t>
            </a:r>
          </a:p>
        </p:txBody>
      </p:sp>
      <p:pic>
        <p:nvPicPr>
          <p:cNvPr id="9" name="Picture 8" descr="09-admin-waiters.png"/>
          <p:cNvPicPr>
            <a:picLocks noChangeAspect="1"/>
          </p:cNvPicPr>
          <p:nvPr/>
        </p:nvPicPr>
        <p:blipFill rotWithShape="1">
          <a:blip r:embed="rId2"/>
          <a:srcRect l="22824" r="22968"/>
          <a:stretch/>
        </p:blipFill>
        <p:spPr>
          <a:xfrm>
            <a:off x="6335755" y="704088"/>
            <a:ext cx="4506955" cy="51963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56967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1A1AA"/>
                </a:solidFill>
                <a:latin typeface="Calibri"/>
              </a:rPr>
              <a:t>Waiter profiles in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Waiter calling button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040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A1A1AA"/>
                </a:solidFill>
                <a:latin typeface="Calibri"/>
              </a:rPr>
              <a:t>Hardware support layer for faster response at each table alongside the digital ordering website</a:t>
            </a:r>
          </a:p>
        </p:txBody>
      </p:sp>
      <p:pic>
        <p:nvPicPr>
          <p:cNvPr id="6" name="Picture 5" descr="c__Users_abdul_Desktop_LandN_waiter_calling_dev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89200"/>
            <a:ext cx="4343400" cy="39253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20640" y="1143000"/>
            <a:ext cx="6492240" cy="210312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0" y="1307592"/>
            <a:ext cx="6126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Calibri"/>
              </a:rPr>
              <a:t>Package included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618488"/>
            <a:ext cx="61264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1 main waiter calling control device / receiver setup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10 waiter watches for instant staff alerts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50 wireless table buttons for guest call points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Each table or lounge point gets its own button ID for quick identification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3566160"/>
            <a:ext cx="6492240" cy="201168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3730752"/>
            <a:ext cx="6126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Operational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4041648"/>
            <a:ext cx="6126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Guests can call staff without shouting or waiting to catch attention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The same table can request order help, payment, or assistance in seconds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Works well with the website: browse digitally, then call staff exactly when needed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How the waiter calling system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040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A1A1AA"/>
                </a:solidFill>
                <a:latin typeface="Calibri"/>
              </a:rPr>
              <a:t>Simple button-to-watch workflow designed for busy restaurant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AFAFA"/>
                </a:solidFill>
                <a:latin typeface="Calibri"/>
              </a:rPr>
              <a:t>•  Each table is assigned one wireless button, so staff can immediately tell where the request is coming from.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AFAFA"/>
                </a:solidFill>
                <a:latin typeface="Calibri"/>
              </a:rPr>
              <a:t>•  When a guest presses the button, the mapped table number is pushed instantly to the waiter watch.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AFAFA"/>
                </a:solidFill>
                <a:latin typeface="Calibri"/>
              </a:rPr>
              <a:t>•  The button can support common actions such as Call, Order, Pay, and Cancel depending on the configured unit.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AFAFA"/>
                </a:solidFill>
                <a:latin typeface="Calibri"/>
              </a:rPr>
              <a:t>•  Waiters wearing the 10 watches receive the alert anywhere on the floor and respond faster.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AFAFA"/>
                </a:solidFill>
                <a:latin typeface="Calibri"/>
              </a:rPr>
              <a:t>•  This reduces hand waving, missed calls, and delays during rush periods.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AFAFA"/>
                </a:solidFill>
                <a:latin typeface="Calibri"/>
              </a:rPr>
              <a:t>•  The call-button system complements the website by covering moments where the guest needs a person immediately.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7492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5230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AFAFA"/>
                </a:solidFill>
                <a:latin typeface="Calibri"/>
              </a:rPr>
              <a:t>Recommended rollout: one button per table / service point, linked to waiter watches for immediate response.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3 · Real-time order tracking &amp;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04088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A1A1AA"/>
                </a:solidFill>
                <a:latin typeface="Calibri"/>
              </a:rPr>
              <a:t>Central admin command center live status, locked items, mark paid</a:t>
            </a:r>
          </a:p>
        </p:txBody>
      </p:sp>
      <p:pic>
        <p:nvPicPr>
          <p:cNvPr id="6" name="Picture 5" descr="05-admin-login.png"/>
          <p:cNvPicPr>
            <a:picLocks noChangeAspect="1"/>
          </p:cNvPicPr>
          <p:nvPr/>
        </p:nvPicPr>
        <p:blipFill rotWithShape="1">
          <a:blip r:embed="rId2"/>
          <a:srcRect l="34163" t="31361" r="35620" b="29677"/>
          <a:stretch/>
        </p:blipFill>
        <p:spPr>
          <a:xfrm>
            <a:off x="1379456" y="1979628"/>
            <a:ext cx="3289954" cy="26513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98932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1A1AA"/>
                </a:solidFill>
                <a:latin typeface="Calibri"/>
              </a:rPr>
              <a:t>Secure admin login</a:t>
            </a:r>
          </a:p>
        </p:txBody>
      </p:sp>
      <p:pic>
        <p:nvPicPr>
          <p:cNvPr id="8" name="Picture 7" descr="06-admin-orders.png"/>
          <p:cNvPicPr>
            <a:picLocks noChangeAspect="1"/>
          </p:cNvPicPr>
          <p:nvPr/>
        </p:nvPicPr>
        <p:blipFill rotWithShape="1">
          <a:blip r:embed="rId3"/>
          <a:srcRect l="20699" r="23083"/>
          <a:stretch/>
        </p:blipFill>
        <p:spPr>
          <a:xfrm>
            <a:off x="6297105" y="894789"/>
            <a:ext cx="4515439" cy="50200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0" y="5989320"/>
            <a:ext cx="5852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1A1AA"/>
                </a:solidFill>
                <a:latin typeface="Calibri"/>
              </a:rPr>
              <a:t>Live orders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Live order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040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A1A1AA"/>
                </a:solidFill>
                <a:latin typeface="Calibri"/>
              </a:rPr>
              <a:t>Every guest order moves through clear, trackable statuses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9903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2164385" cy="482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Guest wishlist submitted
via QR 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828800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4ADE80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23444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139903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Accepted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1" y="1709928"/>
            <a:ext cx="1632250" cy="482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Waiter / kitchen
confirms 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828800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4ADE80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3444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139903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Calibri"/>
              </a:rPr>
              <a:t>Paid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709928"/>
            <a:ext cx="1632251" cy="482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Settlement recorded;
guest session resets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828800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4ADE80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23444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0" y="1399032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Completed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1709928"/>
            <a:ext cx="1834456" cy="482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Order fulfilled;
metrics updated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520440"/>
            <a:ext cx="10972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dirty="0">
                <a:solidFill>
                  <a:srgbClr val="FAFAFA"/>
                </a:solidFill>
                <a:latin typeface="Calibri"/>
              </a:rPr>
              <a:t>•  Locked items: original guest picks are preserved staff can add but guests cannot remove locked lines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FAFAFA"/>
                </a:solidFill>
                <a:latin typeface="Calibri"/>
              </a:rPr>
              <a:t>•  Admin can accept, mark paid, cancel, adjust quantities, and add dishes from the live menu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FAFAFA"/>
                </a:solidFill>
                <a:latin typeface="Calibri"/>
              </a:rPr>
              <a:t>•  When marked paid, guest session resets cleanly for the next round of ordering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FAFAFA"/>
                </a:solidFill>
                <a:latin typeface="Calibri"/>
              </a:rPr>
              <a:t>•  Every change syncs back to the guest phone via </a:t>
            </a:r>
            <a:r>
              <a:rPr lang="en-US" sz="1300" b="0" dirty="0">
                <a:solidFill>
                  <a:srgbClr val="FAFAFA"/>
                </a:solidFill>
                <a:latin typeface="Calibri"/>
              </a:rPr>
              <a:t>database</a:t>
            </a:r>
            <a:r>
              <a:rPr sz="1300" b="0" dirty="0">
                <a:solidFill>
                  <a:srgbClr val="FAFAFA"/>
                </a:solidFill>
                <a:latin typeface="Calibri"/>
              </a:rPr>
              <a:t> order-shares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4 · Menu &amp; inventory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040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A1A1AA"/>
                </a:solidFill>
                <a:latin typeface="Calibri"/>
              </a:rPr>
              <a:t>Instant availability toggles · dynamic CRUD · cloud image storage</a:t>
            </a:r>
          </a:p>
        </p:txBody>
      </p:sp>
      <p:pic>
        <p:nvPicPr>
          <p:cNvPr id="6" name="Picture 5" descr="07-admin-categories.png"/>
          <p:cNvPicPr>
            <a:picLocks noChangeAspect="1"/>
          </p:cNvPicPr>
          <p:nvPr/>
        </p:nvPicPr>
        <p:blipFill rotWithShape="1">
          <a:blip r:embed="rId2"/>
          <a:srcRect l="22680" r="22505"/>
          <a:stretch/>
        </p:blipFill>
        <p:spPr>
          <a:xfrm>
            <a:off x="716437" y="1499616"/>
            <a:ext cx="3245964" cy="3701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852160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1A1AA"/>
                </a:solidFill>
                <a:latin typeface="Calibri"/>
              </a:rPr>
              <a:t>Categories</a:t>
            </a:r>
          </a:p>
        </p:txBody>
      </p:sp>
      <p:pic>
        <p:nvPicPr>
          <p:cNvPr id="8" name="Picture 7" descr="08b-admin-dishes-list.png"/>
          <p:cNvPicPr>
            <a:picLocks noChangeAspect="1"/>
          </p:cNvPicPr>
          <p:nvPr/>
        </p:nvPicPr>
        <p:blipFill rotWithShape="1">
          <a:blip r:embed="rId3"/>
          <a:srcRect l="22366" r="21813"/>
          <a:stretch/>
        </p:blipFill>
        <p:spPr>
          <a:xfrm>
            <a:off x="4383464" y="1618488"/>
            <a:ext cx="3617535" cy="40503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51960" y="5852160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1A1AA"/>
                </a:solidFill>
                <a:latin typeface="Calibri"/>
              </a:rPr>
              <a:t>Dishes CMS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024128"/>
            <a:ext cx="3520440" cy="2033398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0" y="1188720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Calibri"/>
              </a:rPr>
              <a:t>Staff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499616"/>
            <a:ext cx="2927965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Hide out-of-stock items in one tap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Add / edit categories &amp; dishes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Upload hi-res images to </a:t>
            </a:r>
            <a:r>
              <a:rPr lang="en-US" sz="1100" b="0" dirty="0">
                <a:solidFill>
                  <a:srgbClr val="A1A1AA"/>
                </a:solidFill>
                <a:latin typeface="Calibri"/>
              </a:rPr>
              <a:t>database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 Storage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Manage waiter Staff IDs &amp; photos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Search, filter, paginate dish list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Role-ready for future kitchen display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User-friendly experience upgrades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040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A1A1AA"/>
                </a:solidFill>
                <a:latin typeface="Calibri"/>
              </a:rPr>
              <a:t>Designed for real guests and busy floor staff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61288"/>
            <a:ext cx="3920136" cy="1977637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868680" y="1534344"/>
            <a:ext cx="32768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4ADE80"/>
                </a:solidFill>
                <a:latin typeface="Calibri"/>
              </a:rPr>
              <a:t>Guided onboarding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1" y="1922443"/>
            <a:ext cx="3920136" cy="841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>
                <a:solidFill>
                  <a:srgbClr val="A1A1AA"/>
                </a:solidFill>
                <a:latin typeface="Calibri"/>
              </a:rPr>
              <a:t>Search spotlight walkthrough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A1A1AA"/>
                </a:solidFill>
                <a:latin typeface="Calibri"/>
              </a:rPr>
              <a:t>Swipe tutorial on first visit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A1A1AA"/>
                </a:solidFill>
                <a:latin typeface="Calibri"/>
              </a:rPr>
              <a:t>Skips automatically once guest has ordered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161288"/>
            <a:ext cx="3920136" cy="1977637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6720840" y="1532629"/>
            <a:ext cx="30002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FAFAFA"/>
                </a:solidFill>
                <a:latin typeface="Calibri"/>
              </a:rPr>
              <a:t>Order clarity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922443"/>
            <a:ext cx="3304741" cy="841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>
                <a:solidFill>
                  <a:srgbClr val="A1A1AA"/>
                </a:solidFill>
                <a:latin typeface="Calibri"/>
              </a:rPr>
              <a:t>My Orders history with QR per visit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A1A1AA"/>
                </a:solidFill>
                <a:latin typeface="Calibri"/>
              </a:rPr>
              <a:t>Order more vs new order buttons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A1A1AA"/>
                </a:solidFill>
                <a:latin typeface="Calibri"/>
              </a:rPr>
              <a:t>Clear locked-item messaging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14308"/>
            <a:ext cx="3861772" cy="2161337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860823" y="4157005"/>
            <a:ext cx="32768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FAFAFA"/>
                </a:solidFill>
                <a:latin typeface="Calibri"/>
              </a:rPr>
              <a:t>Staff speed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28483"/>
            <a:ext cx="3035743" cy="841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A1A1AA"/>
                </a:solidFill>
                <a:latin typeface="Calibri"/>
              </a:rPr>
              <a:t>One-scan QR handoff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A1A1AA"/>
                </a:solidFill>
                <a:latin typeface="Calibri"/>
              </a:rPr>
              <a:t>No duplicate assign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A1A1AA"/>
                </a:solidFill>
                <a:latin typeface="Calibri"/>
              </a:rPr>
              <a:t>Visual status badges on every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3714308"/>
            <a:ext cx="3920136" cy="2161337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6720840" y="4147387"/>
            <a:ext cx="31537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FAFAFA"/>
                </a:solidFill>
                <a:latin typeface="Calibri"/>
              </a:rPr>
              <a:t>Receipt &amp;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1" y="4528483"/>
            <a:ext cx="3000216" cy="841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>
                <a:solidFill>
                  <a:srgbClr val="A1A1AA"/>
                </a:solidFill>
                <a:latin typeface="Calibri"/>
              </a:rPr>
              <a:t>Centered order summary QR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A1A1AA"/>
                </a:solidFill>
                <a:latin typeface="Calibri"/>
              </a:rPr>
              <a:t>Share ID for waiter lookup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A1A1AA"/>
                </a:solidFill>
                <a:latin typeface="Calibri"/>
              </a:rPr>
              <a:t>Paid status closes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Who uses what — website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040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A1A1AA"/>
                </a:solidFill>
                <a:latin typeface="Calibri"/>
              </a:rPr>
              <a:t>Simple URLs for guests, floor staff, and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2528740" cy="2079553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26187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Calibri"/>
              </a:rPr>
              <a:t>Guest menu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2528740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https://landnkitchen/</a:t>
            </a:r>
          </a:p>
          <a:p>
            <a:pPr>
              <a:spcAft>
                <a:spcPts val="400"/>
              </a:spcAft>
            </a:pPr>
            <a:endParaRPr sz="1100" b="0" dirty="0">
              <a:solidFill>
                <a:srgbClr val="A1A1AA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Scan table QR on phone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Swipe, search, build </a:t>
            </a:r>
            <a:r>
              <a:rPr sz="1100" b="0" dirty="0" err="1">
                <a:solidFill>
                  <a:srgbClr val="A1A1AA"/>
                </a:solidFill>
                <a:latin typeface="Calibri"/>
              </a:rPr>
              <a:t>wishlist</a:t>
            </a:r>
            <a:endParaRPr sz="1100" b="0" dirty="0">
              <a:solidFill>
                <a:srgbClr val="A1A1AA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Share session QR with waiter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Track order + digital receipt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097280"/>
            <a:ext cx="2792691" cy="2079553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126187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Waiter /order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572768"/>
            <a:ext cx="2609811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https://landnkitchen.</a:t>
            </a:r>
            <a:r>
              <a:rPr lang="en-NG" sz="1100" b="0" dirty="0">
                <a:solidFill>
                  <a:srgbClr val="A1A1AA"/>
                </a:solidFill>
                <a:latin typeface="Calibri"/>
              </a:rPr>
              <a:t> 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/order</a:t>
            </a:r>
          </a:p>
          <a:p>
            <a:pPr>
              <a:spcAft>
                <a:spcPts val="400"/>
              </a:spcAft>
            </a:pPr>
            <a:endParaRPr sz="1100" b="0" dirty="0">
              <a:solidFill>
                <a:srgbClr val="A1A1AA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Enter Staff ID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Scan guest </a:t>
            </a:r>
            <a:r>
              <a:rPr sz="1100" b="0" dirty="0" err="1">
                <a:solidFill>
                  <a:srgbClr val="A1A1AA"/>
                </a:solidFill>
                <a:latin typeface="Calibri"/>
              </a:rPr>
              <a:t>wishlist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 QR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Capture table / lounge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Assign to admin (one-shot)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097280"/>
            <a:ext cx="2792691" cy="2079553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26187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Admin /admin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572768"/>
            <a:ext cx="2973685" cy="136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https://landnkitchen/admin</a:t>
            </a:r>
          </a:p>
          <a:p>
            <a:pPr>
              <a:spcAft>
                <a:spcPts val="400"/>
              </a:spcAft>
            </a:pPr>
            <a:endParaRPr sz="1100" b="0" dirty="0">
              <a:solidFill>
                <a:srgbClr val="A1A1AA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Secure password login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Live orders dashboard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Accept · Mark paid · Cancel</a:t>
            </a:r>
          </a:p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Menu, categories, waiters CMS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System architecture &amp; tech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896112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1615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Calibri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27048"/>
            <a:ext cx="10789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Next.js App Router + Tailwind CSS </a:t>
            </a:r>
            <a:r>
              <a:rPr lang="en-US" sz="1100" b="0" dirty="0">
                <a:solidFill>
                  <a:srgbClr val="A1A1AA"/>
                </a:solidFill>
                <a:latin typeface="Calibri"/>
              </a:rPr>
              <a:t>for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 fast, mobile-first, desktop preview frame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75688"/>
            <a:ext cx="11155680" cy="896112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51176"/>
            <a:ext cx="10789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1100" b="0" dirty="0" err="1">
                <a:solidFill>
                  <a:srgbClr val="A1A1AA"/>
                </a:solidFill>
                <a:latin typeface="Calibri"/>
              </a:rPr>
              <a:t>Supabase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 PostgreSQL </a:t>
            </a:r>
            <a:r>
              <a:rPr lang="en-US" sz="1100" dirty="0">
                <a:solidFill>
                  <a:srgbClr val="A1A1AA"/>
                </a:solidFill>
                <a:latin typeface="Calibri"/>
              </a:rPr>
              <a:t>for 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orders, dishes, categories, waiters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99816"/>
            <a:ext cx="11155680" cy="896112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6440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Realtime &amp; 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575304"/>
            <a:ext cx="10789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1100" b="0" dirty="0" err="1">
                <a:solidFill>
                  <a:srgbClr val="A1A1AA"/>
                </a:solidFill>
                <a:latin typeface="Calibri"/>
              </a:rPr>
              <a:t>Supabase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 Realtime + Buckets (menu-images, order-shares)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23944"/>
            <a:ext cx="11155680" cy="896112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288536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99432"/>
            <a:ext cx="10789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HMAC-signed admin session cookie (ln_admin_session) · encrypted staff auth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148072"/>
            <a:ext cx="11155680" cy="896112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5312664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623560"/>
            <a:ext cx="10789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 err="1">
                <a:solidFill>
                  <a:srgbClr val="A1A1AA"/>
                </a:solidFill>
                <a:latin typeface="Calibri"/>
              </a:rPr>
              <a:t>Vercel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 edge hosting </a:t>
            </a:r>
            <a:r>
              <a:rPr lang="en-US" sz="1100" b="0" dirty="0">
                <a:solidFill>
                  <a:srgbClr val="A1A1AA"/>
                </a:solidFill>
                <a:latin typeface="Calibri"/>
              </a:rPr>
              <a:t>for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 instant QR-ready public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477042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Investment — ₦6,800,000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040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A1A1AA"/>
                </a:solidFill>
                <a:latin typeface="Calibri"/>
              </a:rPr>
              <a:t>Expanded package covering software delivery, waiter calling hardware, deployment, and launch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6766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4ADE80"/>
                </a:solidFill>
                <a:latin typeface="Calibri"/>
              </a:rPr>
              <a:t>Workstream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024128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4ADE80"/>
                </a:solidFill>
                <a:latin typeface="Calibri"/>
              </a:rPr>
              <a:t>Amount (NGN)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024128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4ADE80"/>
                </a:solidFill>
                <a:latin typeface="Calibri"/>
              </a:rPr>
              <a:t>Share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53312"/>
            <a:ext cx="11155680" cy="502920"/>
          </a:xfrm>
          <a:prstGeom prst="roundRect">
            <a:avLst>
              <a:gd name="adj" fmla="val 12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AFAFA"/>
                </a:solidFill>
                <a:latin typeface="Calibri"/>
              </a:rPr>
              <a:t>Guest ordering UX (swipe, wishlist, QR, onboarding, receipts)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46304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Calibri"/>
              </a:rPr>
              <a:t>₦950,000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146304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  <a:latin typeface="Calibri"/>
              </a:rPr>
              <a:t>14%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20240"/>
            <a:ext cx="11155680" cy="502920"/>
          </a:xfrm>
          <a:prstGeom prst="roundRect">
            <a:avLst>
              <a:gd name="adj" fmla="val 12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029968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AFAFA"/>
                </a:solidFill>
                <a:latin typeface="Calibri"/>
              </a:rPr>
              <a:t>Waiter /order flow (Staff ID, scan, assign, table capture)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02996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Calibri"/>
              </a:rPr>
              <a:t>₦750,000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029968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  <a:latin typeface="Calibri"/>
              </a:rPr>
              <a:t>11%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487168"/>
            <a:ext cx="11155680" cy="502920"/>
          </a:xfrm>
          <a:prstGeom prst="roundRect">
            <a:avLst>
              <a:gd name="adj" fmla="val 12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59689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AFAFA"/>
                </a:solidFill>
                <a:latin typeface="Calibri"/>
              </a:rPr>
              <a:t>Admin live orders, lifecycle, locked items &amp;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596896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Calibri"/>
              </a:rPr>
              <a:t>₦900,000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596896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  <a:latin typeface="Calibri"/>
              </a:rPr>
              <a:t>13%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054096"/>
            <a:ext cx="11155680" cy="502920"/>
          </a:xfrm>
          <a:prstGeom prst="roundRect">
            <a:avLst>
              <a:gd name="adj" fmla="val 12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3163824"/>
            <a:ext cx="344966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AFAFA"/>
                </a:solidFill>
                <a:latin typeface="Calibri"/>
              </a:rPr>
              <a:t>Menu &amp; waiter CMS + database storage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16382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Calibri"/>
              </a:rPr>
              <a:t>₦600,000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163824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  <a:latin typeface="Calibri"/>
              </a:rPr>
              <a:t>9%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621024"/>
            <a:ext cx="11155680" cy="502920"/>
          </a:xfrm>
          <a:prstGeom prst="roundRect">
            <a:avLst>
              <a:gd name="adj" fmla="val 12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3730752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AFAFA"/>
                </a:solidFill>
                <a:latin typeface="Calibri"/>
              </a:rPr>
              <a:t>QA, floor pilot, staff training &amp; 30-day support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730752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Calibri"/>
              </a:rPr>
              <a:t>₦650,000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3075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  <a:latin typeface="Calibri"/>
              </a:rPr>
              <a:t>10%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187952"/>
            <a:ext cx="11155680" cy="502920"/>
          </a:xfrm>
          <a:prstGeom prst="roundRect">
            <a:avLst>
              <a:gd name="adj" fmla="val 12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42976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AFAFA"/>
                </a:solidFill>
                <a:latin typeface="Calibri"/>
              </a:rPr>
              <a:t>Waiter calling system package (main receiver, 10 watches, 50 table buttons)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2976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Calibri"/>
              </a:rPr>
              <a:t>₦1,950,000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29768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  <a:latin typeface="Calibri"/>
              </a:rPr>
              <a:t>29%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58968"/>
            <a:ext cx="11155680" cy="777240"/>
          </a:xfrm>
          <a:prstGeom prst="roundRect">
            <a:avLst>
              <a:gd name="adj" fmla="val 1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660136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AFAFA"/>
                </a:solidFill>
                <a:latin typeface="Calibri"/>
              </a:rPr>
              <a:t>TOTAL PACKAGE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62356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600" b="1">
                <a:solidFill>
                  <a:srgbClr val="FAFAFA"/>
                </a:solidFill>
                <a:latin typeface="Calibri"/>
              </a:rPr>
              <a:t>₦6,800,000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15/17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4756141"/>
            <a:ext cx="11155680" cy="502920"/>
          </a:xfrm>
          <a:prstGeom prst="roundRect">
            <a:avLst>
              <a:gd name="adj" fmla="val 12000"/>
            </a:avLst>
          </a:prstGeom>
          <a:solidFill>
            <a:srgbClr val="141416"/>
          </a:solidFill>
          <a:ln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4865869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AFAFA"/>
                </a:solidFill>
                <a:latin typeface="Calibri"/>
              </a:rPr>
              <a:t>Deployment, on-site setup &amp; go-live rollout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4865869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1A1AA"/>
                </a:solidFill>
                <a:latin typeface="Calibri"/>
              </a:rPr>
              <a:t>₦1,000,000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865869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  <a:latin typeface="Calibri"/>
              </a:rPr>
              <a:t>14%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AFAFA"/>
                </a:solidFill>
                <a:latin typeface="Calibri"/>
              </a:rPr>
              <a:t>Expected business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6187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Calibri"/>
              </a:rPr>
              <a:t>Seamless guest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2918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A1A1AA"/>
                </a:solidFill>
                <a:latin typeface="Calibri"/>
              </a:rPr>
              <a:t>QR → </a:t>
            </a:r>
            <a:r>
              <a:rPr sz="1100" b="0" dirty="0" err="1">
                <a:solidFill>
                  <a:srgbClr val="A1A1AA"/>
                </a:solidFill>
                <a:latin typeface="Calibri"/>
              </a:rPr>
              <a:t>wishlist</a:t>
            </a:r>
            <a:r>
              <a:rPr sz="1100" b="0" dirty="0">
                <a:solidFill>
                  <a:srgbClr val="A1A1AA"/>
                </a:solidFill>
                <a:latin typeface="Calibri"/>
              </a:rPr>
              <a:t> → waiter scan no verbal back-and-forth or order slips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09728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26187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Faster table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572768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Waiters spend seconds, not minutes, capturing an 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09728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126187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Calibri"/>
              </a:rPr>
              <a:t>Fewer kitchen errors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572768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Locked guest items + live admin edits = one source of truth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2900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59359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Clear payment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04488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Mark paid resets guest session; totals always match admin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42900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26280" y="359359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Calibri"/>
              </a:rPr>
              <a:t>Happier staff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3904488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Simple Staff ID login and visual order 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42900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141416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3593592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AFAFA"/>
                </a:solidFill>
                <a:latin typeface="Calibri"/>
              </a:rPr>
              <a:t>Operational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04488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Calibri"/>
              </a:rPr>
              <a:t>Status history, bestsellers, and peak-hour 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A1A1AA"/>
                </a:solidFill>
                <a:latin typeface="Calibri"/>
              </a:rPr>
              <a:t>L&amp;N Kitchen  ·  Digital Ordering &amp; Waiter System Upgrade  · 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4ADE80"/>
                </a:solidFill>
                <a:latin typeface="Calibri"/>
              </a:rPr>
              <a:t>L&amp;N KITCHEN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7170874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>
                <a:solidFill>
                  <a:srgbClr val="FAFAFA"/>
                </a:solidFill>
                <a:latin typeface="Calibri"/>
              </a:rPr>
              <a:t>From swipe to served 
a digital workflow guests and staff will love.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2786</TotalTime>
  <Words>1556</Words>
  <Application>Microsoft Office PowerPoint</Application>
  <PresentationFormat>Widescreen</PresentationFormat>
  <Paragraphs>219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Abdulhadi Ahmad</dc:creator>
  <cp:keywords/>
  <dc:description>generated using python-pptx</dc:description>
  <cp:lastModifiedBy>Abdulhadi Ahmad</cp:lastModifiedBy>
  <cp:revision>7</cp:revision>
  <dcterms:created xsi:type="dcterms:W3CDTF">2013-01-27T09:14:16Z</dcterms:created>
  <dcterms:modified xsi:type="dcterms:W3CDTF">2026-09-05T12:55:35Z</dcterms:modified>
  <cp:category/>
</cp:coreProperties>
</file>